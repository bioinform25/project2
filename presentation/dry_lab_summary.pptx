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0000"/>
                </a:solidFill>
                <a:latin typeface="Calibri"/>
              </a:defRPr>
            </a:pPr>
            <a:r>
              <a:t>PHMG → HSF2 → NETosis Hypothesis:</a:t>
            </a:r>
          </a:p>
          <a:p>
            <a:pPr algn="ctr">
              <a:defRPr sz="3200" b="1" i="0">
                <a:solidFill>
                  <a:srgbClr val="000000"/>
                </a:solidFill>
                <a:latin typeface="Calibri"/>
              </a:defRPr>
            </a:pPr>
            <a:r>
              <a:t>Dry-Lab (in silico) Verification Using Public Human Fibrosis &amp; HCC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Bioinformatics follow-up analysis — [Name],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Background: Why This Dry-Lab Analysis Was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Lab's experiments so far (in vivo → ex vivo):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1) PHMG 6 mg/kg administered to mice in vivo → neutrophils isolated → RNA-seq.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   Upstream-TF analysis of the upregulated gene set ranked HSF2 as the #1 candidate TF.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2) Follow-up validation: neutrophils isolated from untreated mice, treated ex vivo with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   PHMG 3 μg/mL for 6 h → Western blot showed a visibly thicker HSF2 band vs. control.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Working hypothesis (lab):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Chronic toxicant stress (PHMG) → HSF2 activation → neutrophils polarize toward the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anti-inflammatory / immunosuppressive “N2” state → N2 neutrophils suppress cytotoxic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T-cell activity → immune-evasive microenvironment → promotes fibrosis and HCC.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Open question before more wet-lab work: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N2 polarization is usually described as one bundled program — immunosuppressive markers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(Arg-1, CD206) AND NETosis genes (PADI4, ELANE, MPO) rising together. Does public human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tissue data actually support HSF2 driving NETosis-gene expression specifically?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→ This is exactly what the following dry-lab analysis tests.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Testable Prediction &amp; Pre-Specified Analysis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scripts/00_functions.R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scripts/00_functions.R  (plan written BEFORE any result was seen)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Primary endpoint : Spearman rho(HSF2, NET_core_score)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within diseased/fibrotic samples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NET_core genes   : PADI4, ELANE, MPO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(direct NETosis machinery, mechanistically required)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NET_extended     : core + CTSG, LTF, CAMP, DEFA4, AZU1,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ITGAM, NCF2, S100A12, LCN2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Significance     : alpha = 0.05, two-sided, per cohort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Replication rule : primary + replication cohort must agree in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sign AND both be nominally significant (p&lt;0.05)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NET_CORE     &lt;- c("PADI4", "ELANE", "MPO")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NET_EXTENDED &lt;- c(NET_CORE, "CTSG", "LTF", "CAMP", "DEFA4",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               "AZU1", "ITGAM", "NCF2", "S100A12", "LCN2")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TARGET_TF    &lt;- "HSF2"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4 independent public cohorts used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297"/>
                <a:gridCol w="1100297"/>
                <a:gridCol w="1100297"/>
                <a:gridCol w="1100297"/>
                <a:gridCol w="1100299"/>
              </a:tblGrid>
              <a:tr h="69128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Cohort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Organ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n (fibrotic)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RNA-seq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206 (NAFLD F0-F4)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Affymetrix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GSE47460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Agilent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122 (UIP/IPF)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GSE53845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Agilent 2-color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40 (IPF)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If HSF2 drives NETosis-gene expression, HSF2 should positively correlate with the NETosis-core score (PADI4/ELANE/MPO) in fibrotic tissue, reproducibly across independent organs/cohorts. This plan (endpoint, gene panels, significance rule, replication rule) was fixed before looking at any correlation result.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1 — Liver, Primary Cohort: GSE135251 (n=206, RNA-seq)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scripts/01_liver_GSE135251.R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scripts/01_liver_GSE135251.R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net_core_score &lt;- panel_score(expr_panel, NET_CORE, min_genes = 2)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df_nafld &lt;- df[df$disease == "NAFLD", ]   # fibrotic subset, n=206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df_nafld$HSF2, df_nafld$NET_core,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"GSE135251_liver: HSF2 vs NET_core (NAFLD subset, primary)")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-0.145, 95% CI [-0.288, -0.002], p = 0.038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figures/liver_GSE135251_HSF2_vs_NETcore.png</a:t>
            </a:r>
          </a:p>
        </p:txBody>
      </p:sp>
      <p:pic>
        <p:nvPicPr>
          <p:cNvPr id="6" name="Picture 5" descr="liver_GSE13525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892" y="1389888"/>
            <a:ext cx="4147717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Result is opposite in direction to the original hypothesis: HSF2 correlates NEGATIVELY, not positively, with NETosis-core gene expression in fibrotic (NAFLD) liver tissue (rho = -0.145, p = 0.038).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2 — Liver, Replication Cohort: GSE14323 (n=96, microarray)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scripts/02_liver_GSE14323.R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scripts/02_liver_GSE14323.R  (independent platform: Affymetrix)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df_disease &lt;- df[df$tissue != "Normal", ]  # cirrhosis/cirrhosisHCC/HCC, n=96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df_disease$HSF2, df_disease$NET_core,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"GSE14323_liver: HSF2 vs NET_core (diseased subset, replication)")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-0.550, 95% CI [-0.689, -0.381], p = 6.2e-09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Replication rule (same sign + both p&lt;0.05 vs GSE135251): MET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figures/liver_GSE14323_HSF2_vs_NETcore.png</a:t>
            </a:r>
          </a:p>
        </p:txBody>
      </p:sp>
      <p:pic>
        <p:nvPicPr>
          <p:cNvPr id="6" name="Picture 5" descr="liver_GSE14323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Independent platform, independent patients — same negative direction, much stronger and highly significant (rho = -0.550, p = 6.2e-09). Formally REPLICATES the liver finding by the pre-specified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3 — Lung, Primary Cohort: GSE47460 (n=122 IPF, Agilent)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scripts/03_lung_GSE47460.R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scripts/03_lung_GSE47460.R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df_fibrotic &lt;- df[df$group == "UIP_IPF", ]  # histologically fibrotic, n=122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df_fibrotic$HSF2, df_fibrotic$NET_core,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"GSE47460_lung: HSF2 vs NET_core (UIP/IPF subset, primary)")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-0.392, 95% CI [-0.538, -0.218], p = 8.1e-06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figures/lung_GSE47460_HSF2_vs_NETcore.png</a:t>
            </a:r>
          </a:p>
        </p:txBody>
      </p:sp>
      <p:pic>
        <p:nvPicPr>
          <p:cNvPr id="6" name="Picture 5" descr="lung_GSE47460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Different organ entirely (lung vs. liver), different platform — same negative direction, highly significant (rho = -0.392, p = 8.1e-06). The pattern is not liver-specific.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4 — Lung, Replication Cohort: GSE53845 (n=40 IPF, Agilent 2-color)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scripts/04_lung_GSE53845.R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scripts/04_lung_GSE53845.R  (independent submission, n=40 IPF)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df_ipf &lt;- df[df$diagnosis == "IPF", ]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df_ipf$HSF2, df_ipf$NET_core,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"GSE53845_lung: HSF2 vs NET_core (IPF subset, replication)")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-0.050, 95% CI [-0.350, 0.274], p = 0.760  (n.s.)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Same sign as GSE47460, but NOT individually significant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-&gt; interpreted as underpowered (n=40), not as contradicting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figures/lung_GSE53845_HSF2_vs_NETcore.png</a:t>
            </a:r>
          </a:p>
        </p:txBody>
      </p:sp>
      <p:pic>
        <p:nvPicPr>
          <p:cNvPr id="6" name="Picture 5" descr="lung_GSE53845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Direction still negative, but small n=40 is underpowered — does not reach significance on its own. Treated as "no information" rather than a contradiction, and carried forward into the meta-analysis below.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KEY FINDING — 4-Cohort Meta-Analysis: HSF2 vs. NETosis-Core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scripts/05_meta_analysis.R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scripts/05_meta_analysis.R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from-scratch Fisher-z / DerSimonian-Laird random-effects meta-analysis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(no internet-installed 'metafor' package in this environment)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meta_all &lt;- meta_cor_DL(primary_df$rho, primary_df$n, primary_df$cohort)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cat(sprintf("pooled rho = %.3f, 95%% CI [%.3f, %.3f], p = %.3g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Heterogeneity: I^2 = %.1f%%",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meta_all$pooled_rho, meta_all$ci_lo, meta_all$ci_hi,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meta_all$p_value, meta_all$I2))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pooled rho = -0.308, 95% CI [-0.508, -0.076], p = 0.010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I^2 = 83.5% (liver-only: -0.36, p=0.11 / lung-only: -0.25, p=0.15)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figures/FOREST_HSF2_vs_NETcore_all_cohorts.png</a:t>
            </a:r>
          </a:p>
        </p:txBody>
      </p:sp>
      <p:pic>
        <p:nvPicPr>
          <p:cNvPr id="6" name="Picture 5" descr="FOREST_HSF2_vs_NETcore_all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1389888"/>
            <a:ext cx="5501487" cy="3438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All 4 independent cohorts point the same (negative) direction; pooled effect is statistically significant and OPPOSITE the original hypothesis. This is the central result of the dry-lab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Specificity Control: Not a Generic Immune-Infiltration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scripts/06_specificity_check_PTPRC.R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scripts/06_specificity_check_PTPRC.R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Does HSF2 fall because immune infiltration simply "dilutes" bulk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tissue signal as fibrosis worsens? Test against PTPRC (CD45,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pan-leukocyte marker) - if that were the explanation, HSF2 should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ALSO correlate negatively with PTPRC. It does not.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r1_ptprc   &lt;- spearman_report(df1_dis$HSF2, df1_dis$PTPRC, ...)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r1_netcore &lt;- spearman_report(df1_dis$HSF2, df1_dis$NET_core, ...)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GSE135251: HSF2 vs PTPRC     rho = +0.178  p = 0.010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GSE135251: HSF2 vs NET_core  rho = -0.145  p = 0.038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GSE14323:  HSF2 vs PTPRC     rho = +0.448  p = 4.7e-06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GSE14323:  HSF2 vs NET_core  rho = -0.550  p = 6.2e-09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results/SPECIFICITY_check_PTPRC_vs_NETcore.csv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829"/>
                <a:gridCol w="1833829"/>
                <a:gridCol w="1833829"/>
              </a:tblGrid>
              <a:tr h="1152143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Cohort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vs PTPRC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vs NET_core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1152143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+0.178 (p=0.010)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-0.145 (p=0.038)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521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+0.448 (p=4.7e-06)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-0.550 (p=6.2e-09)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HSF2 rises WITH overall immune infiltration (PTPRC) but falls specifically with the NETosis-core score — opposite directions. Rules out the trivial "more immune cells = less relative HSF2 signal" explanation; the negative NETosis relationship looks specific.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Which Individual NETosis Genes Drive This — and Which Don't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scripts/08_cross_cohort_gene_consistency.R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scripts/08_cross_cohort_gene_consistency.R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Break NET_extended into individual genes: which ones move with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HSF2 the SAME direction in all 4 cohorts, vs. which flip sign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between liver and lung?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consistency$n_cohorts_sig_FDR05 &lt;- rowSums(consistency[, fdr_cols] &lt; 0.05)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consistency$direction_consistent &lt;-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(consistency$n_negative == consistency$n_cohorts_tested) |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(consistency$n_positive == consistency$n_cohorts_tested)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Consistent (all 4 cohorts negative): CAMP, MPO, DEFA4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(PADI4, ELANE: negative in 3/4, one small ns exception)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Organ-DIVERGENT (liver vs lung flip sign): LTF, NCF2, ITGAM, LCN2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results/CROSS_COHORT_gene_consistency.csv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6914"/>
                <a:gridCol w="916914"/>
                <a:gridCol w="916914"/>
                <a:gridCol w="916914"/>
                <a:gridCol w="916914"/>
                <a:gridCol w="916917"/>
              </a:tblGrid>
              <a:tr h="57607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GSE47460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GSE53845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DEFA4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PADI4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 neg / 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 neg / 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The core NETosis machinery genes (CAMP, MPO, DEFA4, PADI4, ELANE) move consistently negative with HSF2 in all 4 cohorts. A separate gene set (LTF, NCF2, ITGAM, LCN2) actually flips sign between liver and lung — possibly not neutrophil-specific (e.g. LCN2 is also made by stressed hepatocytes).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In Silico Check: No Existing Evidence HSF2 Directly Activates These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scripts/09_chea3_analysis.R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scripts/09_chea3_analysis.R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Does any existing ChIP-seq / co-expression database already show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HSF2 as an upstream regulator of these genes?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chea3_query &lt;- function(genes, query_name) {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res &lt;- httr::POST(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url = "https://maayanlab.cloud/chea3/api/enrich/",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body = list(query_name = query_name, gene_set = as.list(genes)),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encode = "json", httr::timeout(30))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fromJSON(httr::content(res, as = "text"), simplifyVector = TRUE)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Query: PADI4, ELANE, MPO, CAMP, DEFA4 (the consistent gene set)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HSF2 rank ~1200-1450 of ~1400-1630 TFs in every library (bottom ~10%)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Gene overlap (intersect) = 0 in every co-expression library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NOT returned at all by ENCODE / ReMap / Literature ChIP-seq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results/CHEA3_HSF2_enrichment_results.csv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57607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Library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rank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Total TFs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Gene overlap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Integrated mean 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ARCHS4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GTEx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ENCODE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ReMap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Across 8 independent evidence libraries (ChIP-seq + co-expression + literature), HSF2 is never a plausible top regulator of this gene set. Consistent with either (a) a repressive relationship that co-expression tools can't detect, or (b) this axis being genuinely unstudied — i.e. this is real blue-ocean territory, not something already known and missed.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HCC Immunotherapy: Dataset Gate-Check + First Cohort (GSE215011)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terminal + scripts/07_hcc_ICI_GSE215011.R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GSE140901 (originally planned HCC-ICI dataset) - GATE-CHECK: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785-gene NanoString panel. Does it even measure our genes?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zcat GSE140901_processed_data.txt.gz | grep -w "HSF2"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(no output - HSF2 is NOT in the panel; PADI4/MPO also missing)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==&gt; EXCLUDED, do not force-fit a substitute readout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scripts/07_hcc_ICI_GSE215011.R  (found instead: whole-transcriptome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RNA-seq, HCC, anti-PD-1 monotherapy, n=10, 5 responder/5 non-resp.)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0.44, p = 0.30  (not significant, n=10)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figures/hcc_ICI_GSE215011_HSF2_vs_NETcore.png</a:t>
            </a:r>
          </a:p>
        </p:txBody>
      </p:sp>
      <p:pic>
        <p:nvPicPr>
          <p:cNvPr id="6" name="Picture 5" descr="hcc_ICI_GSE21501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The originally planned dataset (GSE140901) turned out not to measure HSF2 at all — checked directly and excluded rather than substituting a different gene. Found and used GSE215011 instead (real RNA-seq). Alone, n=10 is too small to reach significance either way.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Two More Independent HCC-ICI Cohorts: Same Direction, Individually Significant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scripts/10 + 11_hcc_ICI_*.R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scripts/10_hcc_ICI_GSE279750.R  (anti-PD-L1 combo, post-tx, n=10)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-0.92, p = 0.025   (responders have LOWER HSF2)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scripts/11_hcc_ICI_GSE235863.R  (anti-PD-1+lenvatinib, post-tx, n=15)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-0.73, p = 0.043   (same direction, also sig.)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figures/hcc_ICI_GSE279750_HSF2_by_response.png</a:t>
            </a:r>
          </a:p>
        </p:txBody>
      </p:sp>
      <p:pic>
        <p:nvPicPr>
          <p:cNvPr id="6" name="Picture 5" descr="hcc_ICI_GSE279750_HSF2_by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713" y="1389888"/>
            <a:ext cx="3802074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Found 2 more independent public cohorts. In both, patients with LOWER tumor HSF2 responded better to combination immunotherapy (both p &lt; 0.05). Note: both are combination-regimen, post-treatment cohorts — different design from GSE215011.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HCC-ICI Pooled Result: Suggestive Lead, Not Yet Proven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scripts/12_hcc_ICI_pooled_summary.R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scripts/12_hcc_ICI_pooled_summary.R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Pool all 3 cohorts (rank-biserial r = scale-free Wilcoxon effect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size, valid across differently-normalized expression scales)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meta &lt;- meta_cor_DL(summary_df$r_rb, summary_df$n, summary_df$cohort)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GSE215011 (monotherapy):     r=+0.44  p=0.30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GSE279750 (combo, post-tx):  r=-0.92  p=0.025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GSE235863 (combo, post-tx):  r=-0.73  p=0.043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Pooled (random-effects):     r=-0.59  p=0.22  (I^2=87.1%, high)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==&gt; 2/3 individually significant, but NOT a confirmed pooled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figures/FOREST_hcc_ICI_HSF2_pooled.png</a:t>
            </a:r>
          </a:p>
        </p:txBody>
      </p:sp>
      <p:pic>
        <p:nvPicPr>
          <p:cNvPr id="6" name="Picture 5" descr="FOREST_hcc_ICI_HSF2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1389888"/>
            <a:ext cx="5501487" cy="30945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IMPORTANT for grant "preliminary data" framing: 2 of 3 cohorts are individually significant, but the formal pooled meta-analysis is NOT significant (p=0.22) due to high heterogeneity (monotherapy cohort trends opposite). Should be presented as a promising signal needing a larger validation cohort — not as already proven.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Summary of Dry-Lab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1. Original hypothesis tested: HSF2 upregulation -&gt; NETosis-gene expression up (positively correlated) in fibrotic tissue.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2. Result in 4 independent human liver/lung fibrosis cohorts: HSF2 is NEGATIVELY correlated with the NETosis-core score (pooled rho = -0.31, p = 0.010), replicated in 3/4 cohorts, and specific (survives the PTPRC immune-infiltration control).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3. No existing public ChIP-seq/co-expression database shows HSF2 activating these genes — genuinely unstudied territory.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4. In 3 independent human HCC immunotherapy cohorts, lower tumor HSF2 trends toward better treatment response (2/3 individually significant; pooled result inconclusive, needs more data).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=&gt; Proposed reframing: HSF2 may not be the "master switch" that turns ON NETosis together with N2 polarization — it may instead "decouple" the two, acting as a brake specifically on the NETosis arm while the broader N2/immunosuppressive program proceeds.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What Would Help Next: The In Vivo RNA-seq Gene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The very first lab experiment (PHMG 6 mg/kg in vivo -&gt; neutrophil RNA-seq -&gt; HSF2 ranked #1 upstream TF of the upregulated genes) is the missing piece that could directly test the "decoupling" idea above.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Request: the list of genes that were UPREGULATED in that in vivo experiment (or at least the gene set that was fed into the TF-enrichment analysis).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Why this matters: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If PADI4 / ELANE / MPO (or CAMP / DEFA4) were part of that upregulated set -&gt; HSF2 and NETosis genes moved together in vivo -&gt; tension with the human tissue finding above, needs reconciling.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If those genes were NOT in the upregulated set (flat or down) -&gt; directly SUPPORTS the decoupling hypothesis using the lab's own mouse data, not just outside public data.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This single check could turn "human data disagrees with the original hypothesis" into "human data + our own mouse data together reveal a new regulatory checkpoint."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Suggestion for Next Week's Neutrophil Time-Course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Planned: PHMG dose/time-course in isolated neutrophils (building on the single 3 ug/mL, 6 h Western blot result).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Suggested addition based on the dry-lab result — pre-registered prediction to test: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Full time course (e.g. 1h / 2h / 4h / 6h), not a single timepoint, tracking BOTH: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    (a) HSF2 protein (Western blot) and mRNA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    (b) NETosis-core mRNA: PADI4, ELANE, MPO, and CAMP, DEFA4 (qPCR)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In parallel, standard N1 (iNOS, TNF-a, ICAM-1) and N2 (Arg-1, CD206, IL-10) markers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One functional NETosis readout (e.g. extracellular DNA / SYTOX assay), not mRNA alone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Prediction from dry-lab data: as HSF2 rises, PADI4/ELANE/MPO/CAMP/DEFA4 will NOT rise in parallel (flat or down), while Arg-1/CD206 rise together with HSF2 — i.e., N2 polarization and NETosis-gene induction become decoupled under toxicant stress.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Either outcome (confirmed or refuted) is a real, reportable finding.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