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Arial"/>
              </a:rPr>
              <a:t>PHMG → HSF2 → NETosis Hypothesis: Dry-Lab Verification</a:t>
            </a:r>
          </a:p>
          <a:p>
            <a:pPr>
              <a:spcBef>
                <a:spcPts val="16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Public human fibrosis (GSE135251, GSE14323, GSE47460, GSE53845) + HCC-ICI (GSE215011, GSE279750, GSE235863) cohort analysis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000000"/>
                </a:solidFill>
                <a:latin typeface="Arial"/>
              </a:rPr>
              <a:t>github.com/bioinform25/project2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Overall Study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Lab's wet-lab experiments: PHMG 6 mg/kg in vivo mouse neutrophil RNA-seq -&gt; HSF2 ranked #1 upstream TF of upregulated genes; ex vivo PHMG 3 ug/mL, 6h -&gt; Western blot shows a thicker HSF2 band.</a:t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Working hypothesis: PHMG -&gt; HSF2 activation -&gt; N2 (immunosuppressive) neutrophil polarization -&gt; NETosis-gene induction -&gt; fibrosis / HCC immune evasion.</a:t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This deck: before more wet-lab work, tests the population-level prediction of that hypothesis (HSF2 up -&gt; NETosis-core genes up) using 4 independent public human fibrosis cohorts, then extends to 3 independent HCC immunotherapy-response cohorts.</a:t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- 12 R scripts total (scripts/00-12 in the repo), all pre-registered before results were seen: primary endpoint, replication rule, specificity control, in silico TF check, and meta-analyses throughout.</a:t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This PPT walks through every script's code, actual output, and a one-line interpretation, in the order the analysis was actually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Arial"/>
              </a:rPr>
              <a:t>PART 1 — Human Fibrosis Cohorts</a:t>
            </a:r>
          </a:p>
          <a:p>
            <a:pPr>
              <a:spcBef>
                <a:spcPts val="1000"/>
              </a:spcBef>
            </a:pPr>
            <a:r>
              <a:rPr sz="1600" b="0" i="0">
                <a:solidFill>
                  <a:srgbClr val="000000"/>
                </a:solidFill>
                <a:latin typeface="Arial"/>
              </a:rPr>
              <a:t>Does HSF2 positively correlate with NETosis-core genes in fibrotic liver/lung tissue?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00_functions.R — Pre-Specified Hypothesis &amp; Analysis Plan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scripts/00_functions.R - plan written BEFORE any result was seen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NET_CORE     &lt;- c("PADI4", "ELANE", "MPO")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NET_EXTENDED &lt;- c(NET_CORE, "CTSG", "LTF", "CAMP", "DEFA4",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                   "AZU1", "ITGAM", "NCF2", "S100A12", "LCN2")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TARGET_TF    &lt;- "HSF2"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Primary endpoint: Spearman rho(HSF2, NET_core_score)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  within diseased/fibrotic samples, alpha = 0.05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Replication rule: primary + replication cohort must agree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  in sign AND both be nominally significant (p&lt;0.05)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If HSF2 drives NETosis-gene expression, HSF2 should POSITIVELY correlate with PADI4/ELANE/MPO in fibrotic tissue, reproducibly across independent cohorts. This plan was fixed before any correlation was computed.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69480" y="2331720"/>
          <a:ext cx="4553712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</a:tblGrid>
              <a:tr h="667512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Organ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n (fibrotic)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Liver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Liver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GSE47460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GSE53845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01_liver_GSE135251.R — Liver, Primary Cohort (n=206)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scripts/01_liver_GSE135251.R (RNA-seq, n=206 NAFLD)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net_core_score &lt;- panel_score(expr_panel, NET_CORE, min_genes = 2)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df_nafld &lt;- df[df$disease == "NAFLD", ]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results$primary &lt;- spearman_report(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df_nafld$HSF2, df_nafld$NET_core,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"HSF2 vs NET_core (NAFLD subset, primary)")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Result is OPPOSITE the original hypothesis: HSF2 correlates negatively with the NETosis-core score in fibrotic liver tissue.</a:t>
            </a:r>
          </a:p>
        </p:txBody>
      </p:sp>
      <p:pic>
        <p:nvPicPr>
          <p:cNvPr id="5" name="Picture 4" descr="liver_GSE135251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31720"/>
            <a:ext cx="4005072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02_liver_GSE14323.R — Liver, Replication Cohort (n=96)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scripts/02_liver_GSE14323.R (Affymetrix, independent platform)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df_disease &lt;- df[df$tissue != "Normal", ]  # n=96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results$primary &lt;- spearman_report(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df_disease$HSF2, df_disease$NET_core,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"HSF2 vs NET_core (diseased subset, replication)")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Replication rule (same sign + both p&lt;0.05): MET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Independent platform, independent patients — same negative direction, much stronger (rho=-0.550, p=6.2e-09). Formally REPLICATES the liver finding.</a:t>
            </a:r>
          </a:p>
        </p:txBody>
      </p:sp>
      <p:pic>
        <p:nvPicPr>
          <p:cNvPr id="5" name="Picture 4" descr="liver_GSE14323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922" y="2331720"/>
            <a:ext cx="4338828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03_lung_GSE47460.R — Lung, Primary Cohort (n=122)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scripts/03_lung_GSE47460.R (Agilent, n=122 UIP/IPF)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df_fibrotic &lt;- df[df$group == "UIP_IPF", ]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results$primary &lt;- spearman_report(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df_fibrotic$HSF2, df_fibrotic$NET_core,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"HSF2 vs NET_core (UIP/IPF subset, primary)")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Different organ (lung, not liver), different platform — same negative direction, highly significant (rho=-0.392, p=8.1e-06). Pattern is not liver-specific.</a:t>
            </a:r>
          </a:p>
        </p:txBody>
      </p:sp>
      <p:pic>
        <p:nvPicPr>
          <p:cNvPr id="5" name="Picture 4" descr="lung_GSE47460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922" y="2331720"/>
            <a:ext cx="4338828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04_lung_GSE53845.R — Lung, Replication Cohort (n=40)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scripts/04_lung_GSE53845.R (Agilent 2-color, n=40 IPF)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df_ipf &lt;- df[df$diagnosis == "IPF", ]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results$primary &lt;- spearman_report(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df_ipf$HSF2, df_ipf$NET_core,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"HSF2 vs NET_core (IPF subset, replication)")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rho=-0.050, p=0.760 (n.s.) - same sign, underpowered (n=40)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Direction still negative but n=40 is underpowered - not individually significant. Treated as "no information," not contradicting evidence; carried into the meta-analysis.</a:t>
            </a:r>
          </a:p>
        </p:txBody>
      </p:sp>
      <p:pic>
        <p:nvPicPr>
          <p:cNvPr id="5" name="Picture 4" descr="lung_GSE53845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922" y="2331720"/>
            <a:ext cx="4338828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05_meta_analysis.R — KEY FINDING: 4-Cohort Meta-Analysis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scripts/05_meta_analysis.R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from-scratch Fisher-z / DerSimonian-Laird random-effects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meta_all &lt;- meta_cor_DL(primary_df$rho, primary_df$n, primary_df$cohort)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cat(sprintf("pooled rho=%.3f, 95%% CI [%.3f,%.3f], p=%.3g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Heterogeneity: I^2=%.1f%%", meta_all$pooled_rho, meta_all$ci_lo,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meta_all$ci_hi, meta_all$p_value, meta_all$I2))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Pooled rho=-0.308 (p=0.010) IS significant and OPPOSITE the hypothesis, even though GSE53845 alone was underpowered. But I^2=83.5% (high heterogeneity): significance says the direction is real; heterogeneity says the effect SIZE is not uniform across cohorts — two separate questions. The wet-lab time-course is what settles the magnitude question.</a:t>
            </a:r>
          </a:p>
        </p:txBody>
      </p:sp>
      <p:pic>
        <p:nvPicPr>
          <p:cNvPr id="5" name="Picture 4" descr="FOREST_HSF2_vs_NETcore_all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577465"/>
            <a:ext cx="4553712" cy="28460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06_specificity_check_PTPRC.R — Ruling Out a Trivial Artifact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scripts/06_specificity_check_PTPRC.R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Is this just "more immune infiltrate dilutes HSF2 signal"?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Test against PTPRC (CD45, pan-leukocyte marker):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r1_ptprc   &lt;- spearman_report(df1_dis$HSF2, df1_dis$PTPRC, ...)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r1_netcore &lt;- spearman_report(df1_dis$HSF2, df1_dis$NET_core, ...)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HSF2 rises WITH overall immune infiltration (PTPRC, positive) but falls specifically with NETosis-core genes (negative) — opposite directions. Rules out the trivial "more immune cells = less relative HSF2" explanation.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69480" y="2331720"/>
          <a:ext cx="4553712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904"/>
                <a:gridCol w="1517904"/>
                <a:gridCol w="1517904"/>
              </a:tblGrid>
              <a:tr h="111252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HSF2 vs PTPRC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HSF2 vs NET_core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+0.178 (p=0.010)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-0.145 (p=0.038)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+0.448 (p=4.7e-06)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-0.550 (p=6.2e-09)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08_cross_cohort_gene_consistency.R — Which Genes Drive This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scripts/08_cross_cohort_gene_consistency.R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Which individual NETosis genes move with HSF2 the SAME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direction in all 4 cohorts, vs. which flip liver&lt;-&gt;lung?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>consistency$n_cohorts_sig_FDR05 &lt;- rowSums(consistency[, fdr_cols] &lt; 0.05)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consistency$direction_consistent &lt;-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(consistency$n_negative == consistency$n_cohorts_tested) |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  (consistency$n_positive == consistency$n_cohorts_tested)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CAMP/MPO/DEFA4 (+ PADI4/ELANE with 1 small exception) move consistently negative with HSF2 in all 4 cohorts. LTF/NCF2/ITGAM/LCN2 actually flip sign between liver and lung — possibly not neutrophil-specific (e.g. LCN2 is also made by stressed hepatocytes).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69480" y="2331720"/>
          <a:ext cx="4553712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758952"/>
                <a:gridCol w="758952"/>
                <a:gridCol w="758952"/>
                <a:gridCol w="758952"/>
                <a:gridCol w="758952"/>
              </a:tblGrid>
              <a:tr h="5562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Gene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GSE47460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GSE53845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CAMP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DEFA4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PADI4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+0.181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3 neg/1 pos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ELANE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-0.422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-0.348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+0.075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3 neg/1 pos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09_chea3_analysis.R — No Existing Evidence for This Regulation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scripts/09_chea3_analysis.R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Does any existing ChIP-seq/co-expression DB already show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HSF2 upstream of these genes?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res &lt;- httr::POST(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url = "https://maayanlab.cloud/chea3/api/enrich/",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  body = list(query_name = query_name, gene_set = as.list(genes)))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Across 8 evidence libraries (ChIP-seq + co-expression + literature), HSF2 is never a plausible top regulator of this gene set. Either a repressive relationship these tools can't detect, or genuinely unstudied territory (blue ocean).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69480" y="2331720"/>
          <a:ext cx="4553712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</a:tblGrid>
              <a:tr h="5562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HSF2 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Total TFs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000000"/>
                          </a:solidFill>
                          <a:latin typeface="Calibri"/>
                        </a:rPr>
                        <a:t>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Integrated mean 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ARCHS4 co-expression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1628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GTEx co-expression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ENCODE ChIP-seq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not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ReMap ChIP-seq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not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Arial"/>
              </a:rPr>
              <a:t>PART 2 — HCC Immunotherapy Cohorts</a:t>
            </a:r>
          </a:p>
          <a:p>
            <a:pPr>
              <a:spcBef>
                <a:spcPts val="1000"/>
              </a:spcBef>
            </a:pPr>
            <a:r>
              <a:rPr sz="1600" b="0" i="0">
                <a:solidFill>
                  <a:srgbClr val="000000"/>
                </a:solidFill>
                <a:latin typeface="Arial"/>
              </a:rPr>
              <a:t>HCC = liver cancer, ICI = immune-checkpoint-inhibitor drugs. Does tumor HSF2 relate to whether real patients respond to immunotherapy?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Dataset Gate-Check + First Cohort: GSE215011 (n=10)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GSE140901 (originally planned dataset) - GATE-CHECK first: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785-gene NanoString panel - does it measure our genes?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zcat GSE140901_processed_data.txt.gz | grep -w "HSF2"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&gt;&gt;&gt; no output - HSF2 NOT in panel; PADI4/MPO also missing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==&gt; EXCLUDED, not force-fit with a substitute readout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scripts/07_hcc_ICI_GSE215011.R (nivolumab monotherapy, n=10)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wilcox_report(df$HSF2, df$group, "HSF2: Responder vs Non-responder")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Originally planned dataset didn't measure HSF2 at all - checked directly, excluded rather than substituting. Found GSE215011 instead (real RNA-seq). Alone, n=10 is too small to reach significance (rank-biserial r=0.44, p=0.30).</a:t>
            </a:r>
          </a:p>
        </p:txBody>
      </p:sp>
      <p:pic>
        <p:nvPicPr>
          <p:cNvPr id="5" name="Picture 4" descr="hcc_ICI_GSE215011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922" y="2331720"/>
            <a:ext cx="4338828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Two More Independent HCC-ICI Cohorts (n=10, n=15)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scripts/10_hcc_ICI_GSE279750.R (anti-PD-L1 combo, post-tx, n=10)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wilcox_report(df$HSF2, df$group, "HSF2: Responder vs Non-responder")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&gt;&gt;&gt; rank-biserial r=-0.92, p=0.025 (responders have LOWER HSF2)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scripts/11_hcc_ICI_GSE235863.R (anti-PD-1+lenvatinib, n=15)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wilcox_report(df$HSF2, df$group, "HSF2: Responder vs Non-responder")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&gt;&gt;&gt; rank-biserial r=-0.73, p=0.043 (same direction, also sig.)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Patients with LOWER tumor HSF2 responded better to combination immunotherapy in both cohorts (both p&lt;0.05). Note: both are combination-regimen, post-treatment cohorts - different design from GSE215011's monotherapy.</a:t>
            </a:r>
          </a:p>
        </p:txBody>
      </p:sp>
      <p:pic>
        <p:nvPicPr>
          <p:cNvPr id="5" name="Picture 4" descr="hcc_ICI_GSE279750_HSF2_by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678" y="2331720"/>
            <a:ext cx="3671316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12_hcc_ICI_pooled_summary.R — Suggestive Lead, Not Yet Proven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60120"/>
            <a:ext cx="6720840" cy="3794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 w="9525">
            <a:solidFill>
              <a:srgbClr val="45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scripts/12_hcc_ICI_pooled_summary.R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rank-biserial r = scale-free Wilcoxon effect size,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valid across differently-normalized expression scales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CDCAA"/>
                </a:solidFill>
                <a:latin typeface="Consolas"/>
              </a:rPr>
              <a:t>meta &lt;- meta_cor_DL(summary_df$r_rb, summary_df$n, summary_df$cohort)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&gt;&gt;&gt; Pooled (random-effects): r=-0.59, p=0.22 (I^2=87.1%)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00" b="0" i="0">
                <a:solidFill>
                  <a:srgbClr val="6A9955"/>
                </a:solidFill>
                <a:latin typeface="Consolas"/>
              </a:rPr>
              <a:t># ==&gt; 2/3 individually significant, NOT a confirmed pooled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960120"/>
            <a:ext cx="4553712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000000"/>
                </a:solidFill>
                <a:latin typeface="Arial"/>
              </a:rPr>
              <a:t>IMPORTANT for grant "preliminary data" framing: 2 of 3 cohorts individually significant, but formal pooled meta-analysis is NOT significant (p=0.22, high heterogeneity). Present as a promising signal needing a larger validation cohort.</a:t>
            </a:r>
          </a:p>
        </p:txBody>
      </p:sp>
      <p:pic>
        <p:nvPicPr>
          <p:cNvPr id="5" name="Picture 4" descr="FOREST_hcc_ICI_HSF2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719768"/>
            <a:ext cx="4553712" cy="256146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Summary of Dry-Lab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Tested: HSF2 up -&gt; NETosis-gene expression up (positively correlated) in fibrotic tissue. Result in 4 independent human liver/lung cohorts: HSF2 is NEGATIVELY correlated with the NETosis-core score (pooled rho=-0.31, p=0.010), replicated in 3/4 cohorts, and specific (survives the PTPRC immune-infiltration control).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No existing public ChIP-seq/co-expression database shows HSF2 activating these genes - genuinely unstudied territory.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In 3 independent human HCC immunotherapy cohorts, lower tumor HSF2 trends toward better treatment response (2/3 individually significant; pooled result inconclusive, needs more data).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Proposed reframing: HSF2 may not be the "master switch" that turns ON NETosis together with N2 polarization - it may instead "decouple" the two, acting as a brake specifically on the NETosis arm while the broader N2/immunosuppressive program proceeds.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What Would Help Next: The In Vivo RNA-seq Gene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The first lab experiment (PHMG 6 mg/kg in vivo -&gt; neutrophil RNA-seq -&gt; HSF2 ranked #1 upstream TF of the upregulated genes) is the missing piece that could directly test the "decoupling" idea above.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Request: the list of genes UPREGULATED in that in vivo experiment (or the gene set fed into the TF-enrichment analysis).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If PADI4/ELANE/MPO/CAMP/DEFA4 were part of that upregulated set -&gt; HSF2 and NETosis genes moved together in vivo -&gt; tension with the human tissue finding, needs reconciling.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If those genes were NOT in the upregulated set (flat or down) -&gt; directly SUPPORTS the decoupling hypothesis using the lab's own mouse data, not just outside public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00000"/>
                </a:solidFill>
                <a:latin typeface="Arial"/>
              </a:rPr>
              <a:t>Suggestion for Next Week's Neutrophil Time-Course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Planned: PHMG dose/time-course in isolated neutrophils (building on the single 3 ug/mL, 6h Western blot result).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Suggested addition: full time course (1h/2h/4h/6h), not a single timepoint, tracking BOTH (a) HSF2 protein/mRNA and (b) NETosis-core mRNA (PADI4, ELANE, MPO, CAMP, DEFA4 by qPCR), alongside standard N1 (iNOS, TNF-a, ICAM-1) and N2 (Arg-1, CD206, IL-10) markers, plus one functional NETosis readout (extracellular DNA/SYTOX assay).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Prediction from dry-lab data: as HSF2 rises, PADI4/ELANE/MPO/CAMP/DEFA4 will NOT rise in parallel, while Arg-1/CD206 rise together with HSF2 - N2 polarization and NETosis-gene induction become decoupled under toxicant stress.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0" i="0">
                <a:solidFill>
                  <a:srgbClr val="000000"/>
                </a:solidFill>
                <a:latin typeface="Arial"/>
              </a:rPr>
              <a:t>- Either outcome (confirmed or refuted) is a real, reportable finding.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