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00000"/>
                </a:solidFill>
                <a:latin typeface="Arial"/>
              </a:rPr>
              <a:t>PHMG → HSF2 → NETosis Hypothesis: Dry-Lab Verification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00000"/>
                </a:solidFill>
                <a:latin typeface="Arial"/>
              </a:rPr>
              <a:t>공개 human 섬유화 코호트(GSE135251, GSE14323, GSE47460, GSE53845) + HCC 면역항암제 코호트(GSE215011, GSE279750, GSE235863) 분석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000000"/>
                </a:solidFill>
                <a:latin typeface="Arial"/>
              </a:rPr>
              <a:t>github.com/bioinform25/project2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Overall Study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연구실 웻랩 실험: PHMG 6 mg/kg in vivo 마우스 호중구 RNA-seq → 상승(upregulated) 유전자군의 1순위 상위 TF로 HSF2 확인; ex vivo PHMG 3 ug/mL, 6시간 처리 → Western blot에서 HSF2 band 두꺼워짐 관찰.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작업 가설: PHMG → HSF2 활성화 → N2(면역억제성) 호중구 극성화 → NETosis 유전자 발현 유도 → 섬유화 / 간암(HCC) 면역회피.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이 자료의 목적: 추가 웻랩 실험 전에, 이 가설의 population-level 예측(HSF2↑ → NETosis 핵심 유전자↑)을 4개의 독립적인 공개 human 섬유화 코호트로 먼저 검증하고, 3개의 독립적인 HCC 면역항암제 반응성 코호트로 확장 분석.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총 12개 R 스크립트(repo의 scripts/00-12) — 결과를 보기 전에 미리 지정한 분석계획: 1차 endpoint, 재현성 규칙, 특이성 대조, in silico TF 검증, 전체 meta-analysis까지 포함.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이 PPT는 실제 분석이 진행된 순서 그대로, 각 스크립트의 코드·실제 결과·한 줄 해석을 정리했습니다.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Arial"/>
              </a:rPr>
              <a:t>PART 1 — Human Fibrosis Cohorts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000000"/>
                </a:solidFill>
                <a:latin typeface="Arial"/>
              </a:rPr>
              <a:t>섬유화된 간·폐 조직에서 HSF2가 NETosis 핵심 유전자와 양의 상관관계를 보이는가?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00_functions.R — Pre-Specified Hypothesis &amp; Analysis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scripts/00_functions.R - plan written BEFORE any result was seen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NET_CORE     &lt;- c("PADI4", "ELANE", "MPO")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NET_EXTENDED &lt;- c(NET_CORE, "CTSG", "LTF", "CAMP", "DEFA4",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                   "AZU1", "ITGAM", "NCF2", "S100A12", "LCN2")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TARGET_TF    &lt;- "HSF2"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Primary endpoint: Spearman rho(HSF2, NET_core_score)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  within diseased/fibrotic samples, alpha = 0.05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Replication rule: primary + replication cohort must agree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  in sign AND both be nominally significant (p&lt;0.05)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HSF2가 NETosis 유전자 발현을 유도한다면, 섬유화 조직에서 HSF2는 PADI4/ELANE/MPO와 양의 상관관계를 보여야 하고, 독립적인 코호트들에서 재현되어야 함. 이 계획은 실제 상관관계를 계산해보기 전에 미리 고정함.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2331720"/>
          <a:ext cx="45537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/>
                <a:gridCol w="1138428"/>
                <a:gridCol w="1138428"/>
                <a:gridCol w="1138428"/>
              </a:tblGrid>
              <a:tr h="667512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Organ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n (fibrotic)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GSE135251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Liver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GSE14323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Liver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Replication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GSE47460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Lung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GSE53845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Lung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Replication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01_liver_GSE135251.R — Liver, Primary Cohort (n=206)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scripts/01_liver_GSE135251.R (RNA-seq, n=206 NAFLD)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net_core_score &lt;- panel_score(expr_panel, NET_CORE, min_genes = 2)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df_nafld &lt;- df[df$disease == "NAFLD", 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results$primary &lt;- spearman_report(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df_nafld$HSF2, df_nafld$NET_core,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"HSF2 vs NET_core (NAFLD subset, primary)")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결과는 원 가설과 반대 방향: 섬유화된 간 조직에서 HSF2는 NETosis_core score와 음의 상관관계를 보임.</a:t>
            </a:r>
          </a:p>
        </p:txBody>
      </p:sp>
      <p:pic>
        <p:nvPicPr>
          <p:cNvPr id="5" name="Picture 4" descr="liver_GSE135251_HSF2_vs_NE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331720"/>
            <a:ext cx="4005072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02_liver_GSE14323.R — Liver, Replication Cohort (n=96)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scripts/02_liver_GSE14323.R (Affymetrix, independent platform)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df_disease &lt;- df[df$tissue != "Normal", ]  # n=96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results$primary &lt;- spearman_report(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df_disease$HSF2, df_disease$NET_core,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"HSF2 vs NET_core (diseased subset, replication)")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Replication rule (same sign + both p&lt;0.05):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독립적인 플랫폼, 독립적인 환자군 — 같은 음의 방향, 훨씬 강함(rho=-0.550, p=6.2e-09). 간 코호트 결과가 공식적으로 재현(REPLICATE)됨.</a:t>
            </a:r>
          </a:p>
        </p:txBody>
      </p:sp>
      <p:pic>
        <p:nvPicPr>
          <p:cNvPr id="5" name="Picture 4" descr="liver_GSE14323_HSF2_vs_NE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922" y="2331720"/>
            <a:ext cx="4338828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03_lung_GSE47460.R — Lung, Primary Cohort (n=122)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scripts/03_lung_GSE47460.R (Agilent, n=122 UIP/IPF)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df_fibrotic &lt;- df[df$group == "UIP_IPF", 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results$primary &lt;- spearman_report(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df_fibrotic$HSF2, df_fibrotic$NET_core,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"HSF2 vs NET_core (UIP/IPF subset, primary)")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다른 장기(간이 아닌 폐), 다른 플랫폼 — 같은 음의 방향, 매우 유의함(rho=-0.392, p=8.1e-06). 간에만 국한된 패턴이 아님.</a:t>
            </a:r>
          </a:p>
        </p:txBody>
      </p:sp>
      <p:pic>
        <p:nvPicPr>
          <p:cNvPr id="5" name="Picture 4" descr="lung_GSE47460_HSF2_vs_NE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922" y="2331720"/>
            <a:ext cx="4338828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04_lung_GSE53845.R — Lung, Replication Cohort (n=40)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scripts/04_lung_GSE53845.R (Agilent 2-color, n=40 IPF)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df_ipf &lt;- df[df$diagnosis == "IPF", 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results$primary &lt;- spearman_report(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df_ipf$HSF2, df_ipf$NET_core,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"HSF2 vs NET_core (IPF subset, replication)")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rho=-0.050, p=0.760 (n.s.) - same sign, underpowered (n=40)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방향은 여전히 음의 상관이지만 n=40은 검정력 부족 — 개별적으로는 비유의. "반증"이 아니라 "정보 없음"으로 취급하고, meta-analysis에 그대로 포함시킴.</a:t>
            </a:r>
          </a:p>
        </p:txBody>
      </p:sp>
      <p:pic>
        <p:nvPicPr>
          <p:cNvPr id="5" name="Picture 4" descr="lung_GSE53845_HSF2_vs_NE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922" y="2331720"/>
            <a:ext cx="4338828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05_meta_analysis.R — KEY FINDING: 4-Cohort Meta-Analysis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scripts/05_meta_analysis.R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from-scratch Fisher-z / DerSimonian-Laird random-effects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meta_all &lt;- meta_cor_DL(primary_df$rho, primary_df$n, primary_df$cohort)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cat(sprintf("pooled rho=%.3f, 95%% CI [%.3f,%.3f], p=%.3g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Heterogeneity: I^2=%.1f%%", meta_all$pooled_rho, meta_all$ci_lo,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meta_all$ci_hi, meta_all$p_value, meta_all$I2))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Pooled rho=-0.308(p=0.010)는 유의하며 가설과 반대 방향 — GSE53845 단독은 검정력 부족이었지만 무관함. 다만 I^2=83.5%(높은 이질성): 유의성은 "방향이 진짜"라는 뜻이고, 이질성은 "효과 크기가 코호트마다 일정하지 않다"는 별개의 질문. 이 크기 문제를 해결해줄 게 웻랩 time-course 실험.</a:t>
            </a:r>
          </a:p>
        </p:txBody>
      </p:sp>
      <p:pic>
        <p:nvPicPr>
          <p:cNvPr id="5" name="Picture 4" descr="FOREST_HSF2_vs_NETcore_all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577465"/>
            <a:ext cx="4553712" cy="28460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06_specificity_check_PTPRC.R — Ruling Out a Trivial Artifact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scripts/06_specificity_check_PTPRC.R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Is this just "more immune infiltrate dilutes HSF2 signal"?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Test against PTPRC (CD45, pan-leukocyte marker):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r1_ptprc   &lt;- spearman_report(df1_dis$HSF2, df1_dis$PTPRC, ...)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r1_netcore &lt;- spearman_report(df1_dis$HSF2, df1_dis$NET_core, ...)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HSF2는 전체 면역세포 침윤(PTPRC)과는 함께 증가(양의 상관)하지만 NETosis 핵심 유전자와는 특이적으로 감소(음의 상관) — 서로 반대 방향. "면역세포가 많아져서 HSF2 상대신호가 희석됐다"는 단순한 설명을 배제함.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2331720"/>
          <a:ext cx="45537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904"/>
                <a:gridCol w="1517904"/>
                <a:gridCol w="1517904"/>
              </a:tblGrid>
              <a:tr h="11125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HSF2 vs PTPRC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HSF2 vs NET_core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GSE135251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+0.178 (p=0.010)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-0.145 (p=0.038)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125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GSE14323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+0.448 (p=4.7e-06)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-0.550 (p=6.2e-09)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08_cross_cohort_gene_consistency.R — Which Genes Drive This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scripts/08_cross_cohort_gene_consistency.R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Which individual NETosis genes move with HSF2 the SAME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direction in all 4 cohorts, vs. which flip liver&lt;-&gt;lung?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>consistency$n_cohorts_sig_FDR05 &lt;- rowSums(consistency[, fdr_cols] &lt; 0.05)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consistency$direction_consistent &lt;-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(consistency$n_negative == consistency$n_cohorts_tested) |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  (consistency$n_positive == consistency$n_cohorts_tested)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CAMP/MPO/DEFA4(+ 작은 예외 하나씩 있는 PADI4/ELANE)는 4개 코호트 전부에서 HSF2와 일관되게 음의 방향. LTF/NCF2/ITGAM/LCN2는 간과 폐 사이에서 부호가 뒤집힘 — 호중구 특이적 신호가 아닐 가능성(예: LCN2는 스트레스 받은 간세포에서도 만들어짐).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2331720"/>
          <a:ext cx="45537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"/>
                <a:gridCol w="758952"/>
                <a:gridCol w="758952"/>
                <a:gridCol w="758952"/>
                <a:gridCol w="758952"/>
                <a:gridCol w="758952"/>
              </a:tblGrid>
              <a:tr h="5562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Gene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GSE135251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GSE14323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GSE47460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GSE53845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CAMP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Consistent (-)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Consistent (-)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DEFA4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Consistent (-)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PADI4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3 neg/1 pos (ns)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ELANE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-0.348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3 neg/1 pos (ns)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09_chea3_analysis.R — No Existing Evidence for This Regulation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scripts/09_chea3_analysis.R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Does any existing ChIP-seq/co-expression DB already show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HSF2 upstream of these genes?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res &lt;- httr::POST(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url = "https://maayanlab.cloud/chea3/api/enrich/",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  body = list(query_name = query_name, gene_set = as.list(genes)))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8개의 증거 라이브러리(ChIP-seq + co-expression + literature) 전체에서 HSF2는 이 유전자 세트의 상위 조절인자로 한 번도 나오지 않음. 이 도구들이 못 잡는 억제성 관계이거나, 정말 미개척 영역(blue ocean)일 가능성.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2331720"/>
          <a:ext cx="45537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/>
                <a:gridCol w="1138428"/>
                <a:gridCol w="1138428"/>
                <a:gridCol w="1138428"/>
              </a:tblGrid>
              <a:tr h="55626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HSF2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Total TFs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Overlap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Integrated mean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ARCHS4 co-expression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GTEx co-expression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ENCODE ChIP-seq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not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ReMap ChIP-seq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not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Arial"/>
              </a:rPr>
              <a:t>PART 2 — HCC Immunotherapy Cohorts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000000"/>
                </a:solidFill>
                <a:latin typeface="Arial"/>
              </a:rPr>
              <a:t>HCC = 간암, ICI = 면역관문억제제. 실제 환자의 종양 HSF2가 면역항암제 반응 여부와 관련 있는가?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Dataset Gate-Check + First Cohort: GSE215011 (n=10)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GSE140901 (originally planned dataset) - GATE-CHECK first: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785-gene NanoString panel - does it measure our genes?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zcat GSE140901_processed_data.txt.gz | grep -w "HSF2"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&gt;&gt;&gt; no output - HSF2 NOT in panel; PADI4/MPO also missing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==&gt; EXCLUDED, not force-fit with a substitute readout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scripts/07_hcc_ICI_GSE215011.R (nivolumab monotherapy, n=10)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wilcox_report(df$HSF2, df$group, "HSF2: Responder vs Non-responder")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원래 계획했던 데이터셋은 HSF2를 아예 측정하지 않음 — 직접 확인 후 대체하지 않고 배제. 대신 GSE215011(실제 RNA-seq)을 찾아 사용. n=10 단독으로는 유의성 도달에 표본이 부족함(rank-biserial r=0.44, p=0.30).</a:t>
            </a:r>
          </a:p>
        </p:txBody>
      </p:sp>
      <p:pic>
        <p:nvPicPr>
          <p:cNvPr id="5" name="Picture 4" descr="hcc_ICI_GSE215011_HSF2_vs_NET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922" y="2331720"/>
            <a:ext cx="4338828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Two More Independent HCC-ICI Cohorts (n=10, n=15)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scripts/10_hcc_ICI_GSE279750.R (anti-PD-L1 combo, post-tx, n=10)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wilcox_report(df$HSF2, df$group, "HSF2: Responder vs Non-responder")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&gt;&gt;&gt; rank-biserial r=-0.92, p=0.025 (responders have LOWER HSF2)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scripts/11_hcc_ICI_GSE235863.R (anti-PD-1+lenvatinib, n=15)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wilcox_report(df$HSF2, df$group, "HSF2: Responder vs Non-responder")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&gt;&gt;&gt; rank-biserial r=-0.73, p=0.043 (same direction, also sig.)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두 코호트 모두에서 종양 HSF2가 낮은 환자일수록 병용 면역항암제에 더 잘 반응(둘 다 p&lt;0.05). 참고: 둘 다 병용요법·치료 후 코호트 — GSE215011의 단독요법과는 설계가 다름.</a:t>
            </a:r>
          </a:p>
        </p:txBody>
      </p:sp>
      <p:pic>
        <p:nvPicPr>
          <p:cNvPr id="5" name="Picture 4" descr="hcc_ICI_GSE279750_HSF2_by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678" y="2331720"/>
            <a:ext cx="3671316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12_hcc_ICI_pooled_summary.R — Suggestive Lead, Not Yet Proven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6720840" cy="37947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9525"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scripts/12_hcc_ICI_pooled_summary.R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rank-biserial r = scale-free Wilcoxon effect size,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valid across differently-normalized expression scales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CDCAA"/>
                </a:solidFill>
                <a:latin typeface="Consolas"/>
              </a:rPr>
              <a:t>meta &lt;- meta_cor_DL(summary_df$r_rb, summary_df$n, summary_df$cohort)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&gt;&gt;&gt; Pooled (random-effects): r=-0.59, p=0.22 (I^2=87.1%)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00" b="0" i="0">
                <a:solidFill>
                  <a:srgbClr val="6A9955"/>
                </a:solidFill>
                <a:latin typeface="Consolas"/>
              </a:rPr>
              <a:t># ==&gt; 2/3 individually significant, NOT a confirmed pooled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69480" y="960120"/>
            <a:ext cx="4553712" cy="11887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000000"/>
                </a:solidFill>
                <a:latin typeface="Arial"/>
              </a:rPr>
              <a:t>연구계획서 "preliminary data"로 쓸 때 중요: 3개 중 2개 코호트는 개별적으로 유의하지만, 정식 pooled meta-analysis는 비유의(p=0.22, 높은 이질성). "이미 증명됨"이 아니라 "더 큰 검증 코호트가 필요한 유망한 신호"로 제시해야 함.</a:t>
            </a:r>
          </a:p>
        </p:txBody>
      </p:sp>
      <p:pic>
        <p:nvPicPr>
          <p:cNvPr id="5" name="Picture 4" descr="FOREST_hcc_ICI_HSF2_po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719768"/>
            <a:ext cx="4553712" cy="25614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Summary of Dry-Lab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검증한 가설: 섬유화 조직에서 HSF2↑ → NETosis 유전자 발현↑(양의 상관). 결과: 4개의 독립적인 human 간·폐 코호트에서 HSF2는 NETosis_core score와 음의 상관(pooled rho=-0.31, p=0.010), 3/4 코호트에서 재현, PTPRC 면역침윤 대조도 통과한 특이적 신호.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기존 공개 ChIP-seq/co-expression 데이터베이스 어디에도 HSF2가 이 유전자들을 활성화한다는 근거 없음 — 정말 미개척 영역.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- 3개의 독립적인 human HCC 면역항암제 코호트에서 종양 HSF2가 낮을수록 치료 반응이 좋아지는 경향(3개 중 2개는 개별 유의; pooled 결과는 아직 불확실, 추가 데이터 필요).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제안하는 재해석: HSF2는 N2 극성화와 NETosis를 함께 켜는 "총사령관"이 아니라, 오히려 둘을 "분리(decouple)"시켜서 — 더 넓은 N2/면역억제 프로그램은 진행되게 두면서 NETosis 쪽에만 브레이크를 거는 조절자일 수 있음.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What Would Help Next: The In Vivo RNA-seq Gene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연구실의 첫 실험(PHMG 6 mg/kg in vivo → 호중구 RNA-seq → 상승 유전자군의 1순위 상위 TF가 HSF2)이 바로 위 "decoupling" 가설을 직접 검증할 수 있는 빠진 조각입니다.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요청: 그 in vivo 실험에서 상승(upregulated)한 유전자 리스트(또는 TF-enrichment 분석에 입력한 유전자셋).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만약 PADI4/ELANE/MPO/CAMP/DEFA4가 그 상승 유전자 목록에 포함되어 있었다면 → in vivo에서는 HSF2와 NETosis 유전자가 같이 움직였다는 뜻 → human 조직 결과와 상충, 조정이 필요.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만약 그 유전자들이 상승 목록에 없었다면(변화 없음 또는 감소) → 외부 공개 데이터뿐 아니라 우리 연구실 자체 마우스 데이터로도 decoupling 가설이 직접 뒷받침됨.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Arial"/>
              </a:rPr>
              <a:t>Suggestion for Next Week's Neutrophil Time-Course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계획: 분리된 호중구에서 PHMG 농도/시간별 실험(기존 3 ug/mL, 6시간 단일 Western blot 결과에서 확장).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제안하는 추가사항: 단일 시점이 아닌 전체 time course(1h/2h/4h/6h)로 (a) HSF2 단백질/mRNA와 (b) NETosis 핵심 mRNA(PADI4, ELANE, MPO, CAMP, DEFA4, qPCR)를 함께 추적하고, 표준 N1(iNOS, TNF-α, ICAM-1)·N2(Arg-1, CD206, IL-10) 마커도 같이, 여기에 기능적 NETosis readout(세포외 DNA/SYTOX assay) 하나 추가.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Dry-lab 데이터에 근거한 예측: HSF2가 오를 때 PADI4/ELANE/MPO/CAMP/DEFA4는 같이 오르지 않고, Arg-1/CD206은 HSF2와 함께 오를 것 — 독성 스트레스 하에서 N2 극성화와 NETosis 유전자 유도가 decoupling됨.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00000"/>
                </a:solidFill>
                <a:latin typeface="Arial"/>
              </a:rPr>
              <a:t/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000000"/>
                </a:solidFill>
                <a:latin typeface="Arial"/>
              </a:rPr>
              <a:t>- 어느 쪽 결과가 나오든(확인되든 반박되든) 그 자체로 의미 있는, 보고 가능한 발견입니다.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